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pyMack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868680" y="2697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Compressible Linear Stability Theory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86968" y="331012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against published benchmarks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86968" y="4160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pPr indent="0" marL="0">
              <a:buNone/>
            </a:pPr>
            <a:r>
              <a:rPr lang="en-US" sz="18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validation cases   ·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pPr indent="0" marL="0">
              <a:buNone/>
            </a:pPr>
            <a:r>
              <a:rPr lang="en-US" sz="18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independent sources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86968" y="5806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 (1984)   ·   Malik (1990)   ·   Balakumar &amp; Malik (1992)   ·   Ma &amp; Zhong (2003)   ·   Egorov et al. (2006)   ·   Sivasubramanian &amp; Fasel (2015)   ·   Özgen &amp; Kırcalı (2008)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6968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overview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21208" y="1024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 run at each benchmark's exact conditions, overlaid on the published / independent reference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0292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 cases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8328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38328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second-mode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6364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26364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first-mode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0" y="178308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0" y="18928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0" y="26791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" y="3520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each slide shows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02920" y="3931920"/>
            <a:ext cx="11155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pyMack result overlaid on the benchmark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 neutral curves, the pyMack cᵢ = 0 contour vs. the digitized paper curve; for growth rates / eigenvalues, the pyMack curve vs. the reference points.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 conditions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Mach, gas, wall BC (with adiabatic recovery Tw/Te), edge temperature, Prandtl, transport / viscosity law, Reynolds scaling, and formulation.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agreement metric</a:t>
            </a:r>
            <a:endParaRPr lang="en-US" sz="14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median relative error or eigenvalue match, at the digitization noise floor where applicable.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(Mack)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86968" y="3611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validation cases — pyMack's design target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Balakumar &amp; Malik (1992)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discrete vs continuous spectrum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16899"/>
            <a:ext cx="7040880" cy="4992297"/>
          </a:xfrm>
          <a:prstGeom prst="roundRect">
            <a:avLst>
              <a:gd name="adj" fmla="val 916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balakumar_malik1992_branches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63203"/>
            <a:ext cx="6748272" cy="4699689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 K  (T0 = 311 K)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1000  (=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150 Cheb.; y_max = 40 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discrete_c_phase=0.908; disc_alpha_r_rel_err=0.000953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balakumar_malik1992_branches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Balakumar &amp; Malik (1992)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spatial eigenvalue α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07043" y="1298448"/>
            <a:ext cx="6341194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balakumar_malik1992_via_xirenfu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47" y="1444752"/>
            <a:ext cx="6048586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61.6 K  (T0 = 311 K)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1000  (=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α_r 0.1%, α_i 9.7% (N=120)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balakumar_malik1992_via_xirenfu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Sivasubramanian &amp; Fasel (2015)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7° cone, M_e = 5.36 · 2nd-mode growth / N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2237187"/>
            <a:ext cx="7040880" cy="3151723"/>
          </a:xfrm>
          <a:prstGeom prst="roundRect">
            <a:avLst>
              <a:gd name="adj" fmla="val 1451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cone_sivasubramanian_fasel_201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383491"/>
            <a:ext cx="6748272" cy="285911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5.356  (edge; M∞ = 6)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Tw=300 K (Tw/Te=4.70)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(S=110.4 K), Pr=0.72, gamma=1.4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2nd mode (L* scale, lambda_mu_ratio=1.2), cone Mangler N=int 6 sigma_L dR_eq, clip_negative (envelope from lower neutral point)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90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f: 210 kHz EXACT match (pyMack peak-N at 205 kHz; N=8.05 at the thesis 210 kHz). N: pyMack domain-matched 8.0-8.1 vs thesis 9.5 -&gt; ~15% short (Mangler …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cone_sivasubramanian_fasel_2015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Egorov, Fedorov &amp; Soudakov (2006)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6 · 2nd-mode growth band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88578"/>
            <a:ext cx="7040880" cy="4848940"/>
          </a:xfrm>
          <a:prstGeom prst="roundRect">
            <a:avLst>
              <a:gd name="adj" fmla="val 943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egorov2006_m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34882"/>
            <a:ext cx="6748272" cy="45563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(perfect gas)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7.11)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power_law(0.7)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Re_x = 2×10⁶ (R 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2D second mode (solve_spatial, L*)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140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rel_err=0.075; pymack_value=215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egorov2006_m6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10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17.97)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200 Cheb.; y_max = 140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4.0%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mack_fig10_6_M100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4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1.0%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mack_fig10_6_M45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5.8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58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6.71)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150 Cheb.; y_max = 64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6.7%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mack_fig10_6_M58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7.0 · max 2nd-mode temporal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688044" y="1298448"/>
            <a:ext cx="6579192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ck_fig10_6_M7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48" y="1444752"/>
            <a:ext cx="6286584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9.32)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 max second-mode growth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170 Cheb.; y_max = 88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2.8%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mack_fig10_6_M70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Malik (1990) Case 6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spatial eigenvalue α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807043" y="1298448"/>
            <a:ext cx="6341194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lik_case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347" y="1444752"/>
            <a:ext cx="6048586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4.39)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121.0 K  (T0 = 611 K)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1500  (= √Re_x)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ω: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120 Cheb.; y_max = 40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α_r 0.0%, α_i 0.1% (N=120)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malik_case6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 &amp; Zhong (2003), JFM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2nd-mode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96957" y="1298448"/>
            <a:ext cx="636136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mazhong2003_m4p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261" y="1444752"/>
            <a:ext cx="606875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65.2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viscosity (S=110.33 K), constant Pr=0.72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 = 7.2×10⁶ /m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freq F: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0.00022  (ω = R·F)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second mode (Mack), F fixed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130 Cheb.; y_max = 40 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(Fig.15 neutral curve)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2nd-mode neutral band matches Fig.15 across full omega-R range (branch I/II 3.1%/3.4% at F=2.2e-4, anchors 806/999.6); 1st-mode cutoff branch tracks, onset …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mazhong2003_m4p5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Independent collaborator LST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5.35 · N₂ · 2nd-mode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311215"/>
            <a:ext cx="7040880" cy="5003666"/>
          </a:xfrm>
          <a:prstGeom prst="roundRect">
            <a:avLst>
              <a:gd name="adj" fmla="val 91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second_mode/sean_m5p3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457519"/>
            <a:ext cx="6748272" cy="471105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nitrogen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5.86)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64.0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power-law Blasius (viscosity exponent 0.74, Pr 0.72)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Reynolds: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Re = 11.76×10⁶ /m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second mode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3.2 mm; lower 1.3 mm (gated bands)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sean_m5p35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26060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mode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86968" y="3611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validation cases — Özgen Fig 3 + Mack oblique first mode</a:t>
            </a:r>
            <a:endParaRPr lang="en-US" sz="1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1.3, ψ = 45° · max 1st-mode growth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15722" y="1298448"/>
            <a:ext cx="692383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mack_fig10_3_m1p3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444752"/>
            <a:ext cx="663122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(ideal, Pr=0.72)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1.29)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228.0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Sutherland viscosity, compressible boundary layer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first mode, max growth over alpha (3D oblique), ψ = 45.0°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y_max = 26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3.8%; Table-10.1 anchor 0.9%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mack_fig10_3_m1p3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Mack (1984) Fig 10.4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4.5 · max 1st-mode growth (oblique)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15722" y="1298448"/>
            <a:ext cx="6923837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mack_fig10_4_M45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444752"/>
            <a:ext cx="6631229" cy="4736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4.44)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3D max first-mode growth over (alpha, psi)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2nd viscosity λ: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(λμ/μ; 0 = Stokes)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130 Cheb.; y_max = 42 L*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 median 6.9%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mack_fig10_4_M45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10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10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17.97)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50.2%; second_upper 6%(74%cov); second_lower 62%(77%cov); first_upper 95%(85%cov); first_lower 53%(85%cov)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ozgen_m10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2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2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1.68)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1.3%; first_upper 1%(17%cov); first_lower 138%(17%cov)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ozgen_m2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3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3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2.53)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6.0%; first_upper 6%(41%cov); first_lower 731%(42%cov)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ozgen_m3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4 · neutral curve (two lobes)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4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3.72)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EAF4EE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2C7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2C7A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1.3%; first_lower 32%(85%cov); first_upper 2%(85%cov); second_upper 0%(86%cov); second_lower 0%(86%cov)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ozgen_m4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6 · neutral curve (two lobes)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6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7.11)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5.3%; second_upper 2%(77%cov); first_lower 50%(88%cov); second_lower 3%(70%cov); first_upper 9%(75%cov)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ozgen_m6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7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7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9.32)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48.3%; second_upper 2%(54%cov); second_lower 59%(67%cov); first_upper 94%(42%cov); first_lower 20%(75%cov)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ozgen_m7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0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Özgen &amp; Kırcalı (2008) Fig 3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75488" y="768096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8 · neutral curve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7040880" cy="4791456"/>
          </a:xfrm>
          <a:prstGeom prst="roundRect">
            <a:avLst>
              <a:gd name="adj" fmla="val 954"/>
            </a:avLst>
          </a:prstGeom>
          <a:solidFill>
            <a:srgbClr val="FFFFFF"/>
          </a:solidFill>
          <a:ln w="12700">
            <a:solidFill>
              <a:srgbClr val="DBE3EC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pic>
        <p:nvPicPr>
          <p:cNvPr id="5" name="Image 0" descr="C:/Users/merts/OneDrive/Masaüstü/MS_LST/verification/first_mode/ozgen_m8/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1563624"/>
            <a:ext cx="6748272" cy="44988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26680" y="1298448"/>
            <a:ext cx="3977640" cy="3520440"/>
          </a:xfrm>
          <a:prstGeom prst="roundRect">
            <a:avLst>
              <a:gd name="adj" fmla="val 1558"/>
            </a:avLst>
          </a:prstGeom>
          <a:solidFill>
            <a:srgbClr val="F4F7F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964424" y="144475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CONDITIONS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964424" y="1755648"/>
            <a:ext cx="3520440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/ γ: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/ 1.4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adiabatic (recovery Tw/Te ≈ 11.86)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temp Te: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288 K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Prandtl Pr: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0.72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Viscosity / transport: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T-dependent μ, κ (Sutherland-type)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scale: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L* = √(νₑ x / Uₑ),  R = √Re_x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2D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Collocation / domain: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≈ 180–240 Cheb.; y_max 8–45 δ*/L*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Disturbance T BC: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isothermal T̂(0)=0 (Özgen Eq. 19)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selection:  </a:t>
            </a:r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eigenfunction-decay + y_max-stationarity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7726680" y="4910328"/>
            <a:ext cx="3977640" cy="1417320"/>
          </a:xfrm>
          <a:prstGeom prst="roundRect">
            <a:avLst>
              <a:gd name="adj" fmla="val 3871"/>
            </a:avLst>
          </a:prstGeom>
          <a:solidFill>
            <a:srgbClr val="FBF1E0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964424" y="5038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12680" y="5020056"/>
            <a:ext cx="1463040" cy="292608"/>
          </a:xfrm>
          <a:prstGeom prst="rect">
            <a:avLst>
              <a:gd name="adj" fmla="val 125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ACCEPTABLE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964424" y="5367528"/>
            <a:ext cx="35204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full-contour match: robust branches median 48.0%; second_upper 4%(45%cov); second_lower 80%(45%cov); first_upper 92%(45%cov); first_lower 51%(73%cov)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57200" y="6437376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ozgen_m8</a:t>
            </a:r>
            <a:pPr indent="0" marL="0">
              <a:buNone/>
            </a:pPr>
            <a:r>
              <a:rPr lang="en-US" sz="900" dirty="0">
                <a:solidFill>
                  <a:srgbClr val="7C8D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pyMack vs. benchmark — verification audit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6968" y="1463040"/>
            <a:ext cx="104241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(Mack) mode — validated.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Agrees with Mack (1984), Malik (1990), Balakumar &amp; Malik (1992), Ma &amp; Zhong (2003), Egorov (2006), an independent collaborator solver, and a cone (Sivasubramanian &amp; Fasel 2015), across Mach 4.5–10.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mode — agrees where the discrete mode is resolvable.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Özgen &amp; Kırcalı (2008) neutral curves M = 2–10: second-mode branches and the first-mode cutoff agree once a discrete-mode (eigenfunction-decay) extractor replaces the phase-speed-band classifier.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open items.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low-α first-mode onset at low Mach is continuous-spectrum-limited; at high Mach pyMack marginally over-predicts the inter-mode region. Mack Fig 10.1/10.4 low-Mach first modes await the same discrete-mode scrutiny.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pyMack LST Verification</dc:title>
  <dc:subject>PptxGenJS Presentation</dc:subject>
  <dc:creator>pyMack</dc:creator>
  <cp:lastModifiedBy>pyMack</cp:lastModifiedBy>
  <cp:revision>1</cp:revision>
  <dcterms:created xsi:type="dcterms:W3CDTF">2026-06-23T11:42:17Z</dcterms:created>
  <dcterms:modified xsi:type="dcterms:W3CDTF">2026-06-23T11:42:17Z</dcterms:modified>
</cp:coreProperties>
</file>