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173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pyMack</a:t>
            </a:r>
            <a:endParaRPr lang="en-US" sz="6600" dirty="0"/>
          </a:p>
        </p:txBody>
      </p:sp>
      <p:sp>
        <p:nvSpPr>
          <p:cNvPr id="3" name="Text 1"/>
          <p:cNvSpPr/>
          <p:nvPr/>
        </p:nvSpPr>
        <p:spPr>
          <a:xfrm>
            <a:off x="868680" y="2697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Compressible Linear Stability Theory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86968" y="331012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against published benchmarks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86968" y="4160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pPr indent="0" marL="0">
              <a:buNone/>
            </a:pPr>
            <a:r>
              <a:rPr lang="en-US" sz="1800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validation cases   · 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pPr indent="0" marL="0">
              <a:buNone/>
            </a:pPr>
            <a:r>
              <a:rPr lang="en-US" sz="1800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independent sources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86968" y="58064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 (1984)   ·   Malik (1990)   ·   Balakumar &amp; Malik (1992)   ·   Ma &amp; Zhong (2003)   ·   Egorov et al. (2006)   ·   Sivasubramanian &amp; Fasel (2015)   ·   Özgen &amp; Kırcalı (2008)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86968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overview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21208" y="10241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pyMack run at each benchmark's exact conditions, overlaid on the published / independent reference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892808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02920" y="26791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 cases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83280" y="17830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83280" y="1892808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3383280" y="26791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second-mode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17830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63640" y="1892808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263640" y="26791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first-mode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44000" y="17830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44000" y="1892808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144000" y="26791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" y="3520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each slide shows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02920" y="3931920"/>
            <a:ext cx="11155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pyMack result overlaid on the benchmark</a:t>
            </a:r>
            <a:endParaRPr lang="en-US" sz="14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for neutral curves, the pyMack cᵢ = 0 contour vs. the digitized paper curve; for growth rates / eigenvalues, the pyMack curve vs. the reference points.</a:t>
            </a:r>
            <a:endParaRPr lang="en-US" sz="14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run conditions</a:t>
            </a:r>
            <a:endParaRPr lang="en-US" sz="14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Mach, gas, wall BC (with adiabatic recovery Tw/Te), edge temperature, Prandtl, transport / viscosity law, Reynolds scaling, and formulation.</a:t>
            </a:r>
            <a:endParaRPr lang="en-US" sz="14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honest agreement metric</a:t>
            </a:r>
            <a:endParaRPr lang="en-US" sz="14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median relative error or eigenvalue match, at the digitization noise floor where applicable.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26060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Second (Mack) mode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86968" y="36118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validation cases — pyMack's design target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Balakumar &amp; Malik (1992)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4.5 · discrete vs continuous spectrum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57200" y="1316899"/>
            <a:ext cx="7040880" cy="4992297"/>
          </a:xfrm>
          <a:prstGeom prst="roundRect">
            <a:avLst>
              <a:gd name="adj" fmla="val 916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second_mode/balakumar_malik1992_branches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63203"/>
            <a:ext cx="6748272" cy="4699689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456432"/>
          </a:xfrm>
          <a:prstGeom prst="roundRect">
            <a:avLst>
              <a:gd name="adj" fmla="val 158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73936"/>
            <a:ext cx="3520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4.44)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temp Te: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61.6 K  (T0 = 311 K)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Reynolds: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1000  (= √Re_x)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ω: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scale: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L* = √(νₑ x / Uₑ)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26680" y="4901184"/>
            <a:ext cx="3977640" cy="1426464"/>
          </a:xfrm>
          <a:prstGeom prst="roundRect">
            <a:avLst>
              <a:gd name="adj" fmla="val 3846"/>
            </a:avLst>
          </a:prstGeom>
          <a:solidFill>
            <a:srgbClr val="FBF1E0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29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10912"/>
            <a:ext cx="1463040" cy="292608"/>
          </a:xfrm>
          <a:prstGeom prst="rect">
            <a:avLst>
              <a:gd name="adj" fmla="val 12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76672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discrete_c_phase=0.908; disc_alpha_r_rel_err=0.000953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balakumar_malik1992_branches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Balakumar &amp; Malik (1992)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4.5 · spatial eigenvalue α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807043" y="1298448"/>
            <a:ext cx="6341194" cy="502920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second_mode/balakumar_malik1992_via_xirenfu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347" y="1444752"/>
            <a:ext cx="6048586" cy="4736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456432"/>
          </a:xfrm>
          <a:prstGeom prst="roundRect">
            <a:avLst>
              <a:gd name="adj" fmla="val 158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73936"/>
            <a:ext cx="3520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4.44)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temp Te: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61.6 K  (T0 = 311 K)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Reynolds: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1000  (= √Re_x)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ω: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scale: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L* = √(νₑ x / Uₑ)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26680" y="4901184"/>
            <a:ext cx="3977640" cy="1426464"/>
          </a:xfrm>
          <a:prstGeom prst="roundRect">
            <a:avLst>
              <a:gd name="adj" fmla="val 3846"/>
            </a:avLst>
          </a:prstGeom>
          <a:solidFill>
            <a:srgbClr val="FBF1E0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29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10912"/>
            <a:ext cx="1463040" cy="292608"/>
          </a:xfrm>
          <a:prstGeom prst="rect">
            <a:avLst>
              <a:gd name="adj" fmla="val 12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76672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α_r 0.1%, α_i 9.7% (N=120)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balakumar_malik1992_via_xirenfu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Sivasubramanian &amp; Fasel (2015)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7° cone, M_e = 5.36 · 2nd-mode growth / N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60524" y="1298448"/>
            <a:ext cx="7034231" cy="502920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second_mode/cone_sivasubramanian_fasel_2015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6828" y="1444752"/>
            <a:ext cx="6741623" cy="4736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456432"/>
          </a:xfrm>
          <a:prstGeom prst="roundRect">
            <a:avLst>
              <a:gd name="adj" fmla="val 158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73936"/>
            <a:ext cx="3520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5.356  (edge; M∞ = 6)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isothermal Tw=300 K (Tw/Te=4.70)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Sutherland (S=110.4 K), Pr=0.72, gamma=1.4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2nd mode (L* scale, lambda_mu_ratio=1.2), cone Mangler N=int 6 sigma_L dR_eq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26680" y="4901184"/>
            <a:ext cx="3977640" cy="1426464"/>
          </a:xfrm>
          <a:prstGeom prst="roundRect">
            <a:avLst>
              <a:gd name="adj" fmla="val 3846"/>
            </a:avLst>
          </a:prstGeom>
          <a:solidFill>
            <a:srgbClr val="FBF1E0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29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10912"/>
            <a:ext cx="1463040" cy="292608"/>
          </a:xfrm>
          <a:prstGeom prst="rect">
            <a:avLst>
              <a:gd name="adj" fmla="val 12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76672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pymack_peak_N_frequency_khz=210; pymack_peak_N=7.06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cone_sivasubramanian_fasel_2015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Egorov, Fedorov &amp; Soudakov (2006)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6 · 2nd-mode growth band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57200" y="1388578"/>
            <a:ext cx="7040880" cy="4848940"/>
          </a:xfrm>
          <a:prstGeom prst="roundRect">
            <a:avLst>
              <a:gd name="adj" fmla="val 943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second_mode/egorov2006_m6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534882"/>
            <a:ext cx="6748272" cy="455633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456432"/>
          </a:xfrm>
          <a:prstGeom prst="roundRect">
            <a:avLst>
              <a:gd name="adj" fmla="val 158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73936"/>
            <a:ext cx="3520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(perfect gas) / 1.4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7.11)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power_law(0.7)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Reynolds: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Re_x = 2×10⁶ (R = √Re_x)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2D second mode (solve_spatial, L*)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26680" y="4901184"/>
            <a:ext cx="3977640" cy="1426464"/>
          </a:xfrm>
          <a:prstGeom prst="roundRect">
            <a:avLst>
              <a:gd name="adj" fmla="val 3846"/>
            </a:avLst>
          </a:prstGeom>
          <a:solidFill>
            <a:srgbClr val="FBF1E0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29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10912"/>
            <a:ext cx="1463040" cy="292608"/>
          </a:xfrm>
          <a:prstGeom prst="rect">
            <a:avLst>
              <a:gd name="adj" fmla="val 12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76672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rel_err=0.075; pymack_value=215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egorov2006_m6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Mack (1984) Fig 10.6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10 · max 2nd-mode temporal growth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88044" y="1298448"/>
            <a:ext cx="6579192" cy="502920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second_mode/mack_fig10_6_M100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348" y="1444752"/>
            <a:ext cx="6286584" cy="4736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456432"/>
          </a:xfrm>
          <a:prstGeom prst="roundRect">
            <a:avLst>
              <a:gd name="adj" fmla="val 158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73936"/>
            <a:ext cx="3520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17.97)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2D max second-mode growth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26680" y="4901184"/>
            <a:ext cx="3977640" cy="1426464"/>
          </a:xfrm>
          <a:prstGeom prst="roundRect">
            <a:avLst>
              <a:gd name="adj" fmla="val 3846"/>
            </a:avLst>
          </a:prstGeom>
          <a:solidFill>
            <a:srgbClr val="EAF4EE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29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10912"/>
            <a:ext cx="1463040" cy="292608"/>
          </a:xfrm>
          <a:prstGeom prst="rect">
            <a:avLst>
              <a:gd name="adj" fmla="val 12500"/>
            </a:avLst>
          </a:prstGeom>
          <a:solidFill>
            <a:srgbClr val="2C7A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76672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 median 4.0%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mack_fig10_6_M100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Mack (1984) Fig 10.6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4.5 · max 2nd-mode temporal growth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88044" y="1298448"/>
            <a:ext cx="6579192" cy="502920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second_mode/mack_fig10_6_M45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348" y="1444752"/>
            <a:ext cx="6286584" cy="4736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456432"/>
          </a:xfrm>
          <a:prstGeom prst="roundRect">
            <a:avLst>
              <a:gd name="adj" fmla="val 158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73936"/>
            <a:ext cx="3520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4.44)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2D max second-mode growth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26680" y="4901184"/>
            <a:ext cx="3977640" cy="1426464"/>
          </a:xfrm>
          <a:prstGeom prst="roundRect">
            <a:avLst>
              <a:gd name="adj" fmla="val 3846"/>
            </a:avLst>
          </a:prstGeom>
          <a:solidFill>
            <a:srgbClr val="EAF4EE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29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10912"/>
            <a:ext cx="1463040" cy="292608"/>
          </a:xfrm>
          <a:prstGeom prst="rect">
            <a:avLst>
              <a:gd name="adj" fmla="val 12500"/>
            </a:avLst>
          </a:prstGeom>
          <a:solidFill>
            <a:srgbClr val="2C7A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76672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 median 1.0%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mack_fig10_6_M45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Mack (1984) Fig 10.6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5.8 · max 2nd-mode temporal growth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88044" y="1298448"/>
            <a:ext cx="6579192" cy="502920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second_mode/mack_fig10_6_M58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348" y="1444752"/>
            <a:ext cx="6286584" cy="4736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456432"/>
          </a:xfrm>
          <a:prstGeom prst="roundRect">
            <a:avLst>
              <a:gd name="adj" fmla="val 158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73936"/>
            <a:ext cx="3520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6.71)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2D max second-mode growth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26680" y="4901184"/>
            <a:ext cx="3977640" cy="1426464"/>
          </a:xfrm>
          <a:prstGeom prst="roundRect">
            <a:avLst>
              <a:gd name="adj" fmla="val 3846"/>
            </a:avLst>
          </a:prstGeom>
          <a:solidFill>
            <a:srgbClr val="FBF1E0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29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10912"/>
            <a:ext cx="1463040" cy="292608"/>
          </a:xfrm>
          <a:prstGeom prst="rect">
            <a:avLst>
              <a:gd name="adj" fmla="val 12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76672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 median 6.7%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mack_fig10_6_M58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Mack (1984) Fig 10.6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7.0 · max 2nd-mode temporal growth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88044" y="1298448"/>
            <a:ext cx="6579192" cy="502920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second_mode/mack_fig10_6_M70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348" y="1444752"/>
            <a:ext cx="6286584" cy="4736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456432"/>
          </a:xfrm>
          <a:prstGeom prst="roundRect">
            <a:avLst>
              <a:gd name="adj" fmla="val 158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73936"/>
            <a:ext cx="3520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9.32)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2D max second-mode growth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26680" y="4901184"/>
            <a:ext cx="3977640" cy="1426464"/>
          </a:xfrm>
          <a:prstGeom prst="roundRect">
            <a:avLst>
              <a:gd name="adj" fmla="val 3846"/>
            </a:avLst>
          </a:prstGeom>
          <a:solidFill>
            <a:srgbClr val="EAF4EE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29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10912"/>
            <a:ext cx="1463040" cy="292608"/>
          </a:xfrm>
          <a:prstGeom prst="rect">
            <a:avLst>
              <a:gd name="adj" fmla="val 12500"/>
            </a:avLst>
          </a:prstGeom>
          <a:solidFill>
            <a:srgbClr val="2C7A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76672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 median 2.8%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mack_fig10_6_M70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Malik (1990) Case 6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4.5 · spatial eigenvalue α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807043" y="1298448"/>
            <a:ext cx="6341194" cy="502920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second_mode/malik_case6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347" y="1444752"/>
            <a:ext cx="6048586" cy="4736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456432"/>
          </a:xfrm>
          <a:prstGeom prst="roundRect">
            <a:avLst>
              <a:gd name="adj" fmla="val 158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73936"/>
            <a:ext cx="3520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4.39)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temp Te: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121.0 K  (T0 = 611 K)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Reynolds: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1500  (= √Re_x)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ω: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0.23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scale: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L* = √(νₑ x / Uₑ)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26680" y="4901184"/>
            <a:ext cx="3977640" cy="1426464"/>
          </a:xfrm>
          <a:prstGeom prst="roundRect">
            <a:avLst>
              <a:gd name="adj" fmla="val 3846"/>
            </a:avLst>
          </a:prstGeom>
          <a:solidFill>
            <a:srgbClr val="EAF4EE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29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10912"/>
            <a:ext cx="1463040" cy="292608"/>
          </a:xfrm>
          <a:prstGeom prst="rect">
            <a:avLst>
              <a:gd name="adj" fmla="val 12500"/>
            </a:avLst>
          </a:prstGeom>
          <a:solidFill>
            <a:srgbClr val="2C7A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76672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α_r 0.0%, α_i 0.1% (N=120)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malik_case6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 &amp; Zhong (2003), JFM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4.5 · 2nd-mode neutral curve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57200" y="1542288"/>
            <a:ext cx="7040880" cy="4541520"/>
          </a:xfrm>
          <a:prstGeom prst="roundRect">
            <a:avLst>
              <a:gd name="adj" fmla="val 1007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second_mode/mazhong2003_m4p5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688592"/>
            <a:ext cx="6748272" cy="424891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456432"/>
          </a:xfrm>
          <a:prstGeom prst="roundRect">
            <a:avLst>
              <a:gd name="adj" fmla="val 158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73936"/>
            <a:ext cx="3520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4.44)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temp Te: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65.2 K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Sutherland viscosity (S=110.33 K), constant Pr=0.72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Reynolds: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Re = 7.2×10⁶ /m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freq F: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0.00022  (ω = R·F)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second mode (Mack), F fixed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26680" y="4901184"/>
            <a:ext cx="3977640" cy="1426464"/>
          </a:xfrm>
          <a:prstGeom prst="roundRect">
            <a:avLst>
              <a:gd name="adj" fmla="val 3846"/>
            </a:avLst>
          </a:prstGeom>
          <a:solidFill>
            <a:srgbClr val="EAF4EE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29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10912"/>
            <a:ext cx="1463040" cy="292608"/>
          </a:xfrm>
          <a:prstGeom prst="rect">
            <a:avLst>
              <a:gd name="adj" fmla="val 12500"/>
            </a:avLst>
          </a:prstGeom>
          <a:solidFill>
            <a:srgbClr val="2C7A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76672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I R 831 (3.1%), Branch II R 1033.4 (3.4%); closed band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mazhong2003_m4p5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Independent collaborator LST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5.35 · N₂ · 2nd-mode neutral curve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57200" y="1311215"/>
            <a:ext cx="7040880" cy="5003666"/>
          </a:xfrm>
          <a:prstGeom prst="roundRect">
            <a:avLst>
              <a:gd name="adj" fmla="val 914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second_mode/sean_m5p35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57519"/>
            <a:ext cx="6748272" cy="471105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456432"/>
          </a:xfrm>
          <a:prstGeom prst="roundRect">
            <a:avLst>
              <a:gd name="adj" fmla="val 158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73936"/>
            <a:ext cx="3520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5.35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nitrogen / 1.4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5.86)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temp Te: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64.0 K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power-law Blasius (viscosity exponent 0.74, Pr 0.72)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Reynolds: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Re = 11.76×10⁶ /m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second mode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26680" y="4901184"/>
            <a:ext cx="3977640" cy="1426464"/>
          </a:xfrm>
          <a:prstGeom prst="roundRect">
            <a:avLst>
              <a:gd name="adj" fmla="val 3846"/>
            </a:avLst>
          </a:prstGeom>
          <a:solidFill>
            <a:srgbClr val="FBF1E0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29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10912"/>
            <a:ext cx="1463040" cy="292608"/>
          </a:xfrm>
          <a:prstGeom prst="rect">
            <a:avLst>
              <a:gd name="adj" fmla="val 12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76672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 3.2 mm; lower 1.3 mm (gated bands)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sean_m5p35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26060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mode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86968" y="36118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validation cases — Özgen Fig 3 + Mack oblique first mode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Mack (1984) Fig 10.3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1.3, ψ = 45° · max 1st-mode growth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15722" y="1298448"/>
            <a:ext cx="6923837" cy="502920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first_mode/mack_fig10_3_m1p3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026" y="1444752"/>
            <a:ext cx="6631229" cy="4736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456432"/>
          </a:xfrm>
          <a:prstGeom prst="roundRect">
            <a:avLst>
              <a:gd name="adj" fmla="val 158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73936"/>
            <a:ext cx="3520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(ideal, Pr=0.72) / 1.4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1.29)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temp Te: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228.0 K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Sutherland viscosity, compressible boundary layer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scale: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L* = √(νₑ x / Uₑ)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first mode, max growth over alpha (3D oblique), ψ = 45.0°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26680" y="4901184"/>
            <a:ext cx="3977640" cy="1426464"/>
          </a:xfrm>
          <a:prstGeom prst="roundRect">
            <a:avLst>
              <a:gd name="adj" fmla="val 3846"/>
            </a:avLst>
          </a:prstGeom>
          <a:solidFill>
            <a:srgbClr val="EAF4EE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29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10912"/>
            <a:ext cx="1463040" cy="292608"/>
          </a:xfrm>
          <a:prstGeom prst="rect">
            <a:avLst>
              <a:gd name="adj" fmla="val 12500"/>
            </a:avLst>
          </a:prstGeom>
          <a:solidFill>
            <a:srgbClr val="2C7A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76672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 median 3.8%; Table-10.1 anchor 0.9%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mack_fig10_3_m1p3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Mack (1984) Fig 10.4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4.5 · max 1st-mode growth (oblique)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15722" y="1298448"/>
            <a:ext cx="6923837" cy="502920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first_mode/mack_fig10_4_M45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026" y="1444752"/>
            <a:ext cx="6631229" cy="4736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456432"/>
          </a:xfrm>
          <a:prstGeom prst="roundRect">
            <a:avLst>
              <a:gd name="adj" fmla="val 158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73936"/>
            <a:ext cx="3520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4.44)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3D max first-mode growth over (alpha, psi)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26680" y="4901184"/>
            <a:ext cx="3977640" cy="1426464"/>
          </a:xfrm>
          <a:prstGeom prst="roundRect">
            <a:avLst>
              <a:gd name="adj" fmla="val 3846"/>
            </a:avLst>
          </a:prstGeom>
          <a:solidFill>
            <a:srgbClr val="FBF1E0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29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10912"/>
            <a:ext cx="1463040" cy="292608"/>
          </a:xfrm>
          <a:prstGeom prst="rect">
            <a:avLst>
              <a:gd name="adj" fmla="val 12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76672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 median 6.9%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mack_fig10_4_M45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Özgen &amp; Kırcalı (2008) Fig 3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10 · neutral curve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57200" y="1346880"/>
            <a:ext cx="7040880" cy="4932335"/>
          </a:xfrm>
          <a:prstGeom prst="roundRect">
            <a:avLst>
              <a:gd name="adj" fmla="val 927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first_mode/ozgen_m10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93184"/>
            <a:ext cx="6748272" cy="463972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456432"/>
          </a:xfrm>
          <a:prstGeom prst="roundRect">
            <a:avLst>
              <a:gd name="adj" fmla="val 158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73936"/>
            <a:ext cx="3520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17.97)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temp Te: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 K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Özgen T-dependent μ, κ (Sutherland-type)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scale: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L* = √(νₑ x / Uₑ),  R = √Re_x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2D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26680" y="4901184"/>
            <a:ext cx="3977640" cy="1426464"/>
          </a:xfrm>
          <a:prstGeom prst="roundRect">
            <a:avLst>
              <a:gd name="adj" fmla="val 3846"/>
            </a:avLst>
          </a:prstGeom>
          <a:solidFill>
            <a:srgbClr val="FBF1E0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29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10912"/>
            <a:ext cx="1463040" cy="292608"/>
          </a:xfrm>
          <a:prstGeom prst="rect">
            <a:avLst>
              <a:gd name="adj" fmla="val 12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76672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2nd-mode cutoff agrees (6%); pyMack fills the inter-mode stable gap Özgen shows (connected vs separated) — 2nd-onset/1st-cutoff inner branches have no pyMack c_i=0 counterpart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ozgen_m10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Özgen &amp; Kırcalı (2008) Fig 3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2 · neutral curve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7040880" cy="4791456"/>
          </a:xfrm>
          <a:prstGeom prst="roundRect">
            <a:avLst>
              <a:gd name="adj" fmla="val 954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first_mode/ozgen_m2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563624"/>
            <a:ext cx="6748272" cy="44988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456432"/>
          </a:xfrm>
          <a:prstGeom prst="roundRect">
            <a:avLst>
              <a:gd name="adj" fmla="val 158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73936"/>
            <a:ext cx="3520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1.68)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temp Te: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 K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Özgen T-dependent μ, κ (Sutherland-type)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scale: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L* = √(νₑ x / Uₑ),  R = √Re_x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2D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26680" y="4901184"/>
            <a:ext cx="3977640" cy="1426464"/>
          </a:xfrm>
          <a:prstGeom prst="roundRect">
            <a:avLst>
              <a:gd name="adj" fmla="val 3846"/>
            </a:avLst>
          </a:prstGeom>
          <a:solidFill>
            <a:srgbClr val="FBF1E0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29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10912"/>
            <a:ext cx="1463040" cy="292608"/>
          </a:xfrm>
          <a:prstGeom prst="rect">
            <a:avLst>
              <a:gd name="adj" fmla="val 12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76672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mode resolvable over 14% of cutoff branch, agrees to 1% there; low-alpha onset CS-blocked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ozgen_m2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Özgen &amp; Kırcalı (2008) Fig 3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3 · neutral curve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7040880" cy="4791456"/>
          </a:xfrm>
          <a:prstGeom prst="roundRect">
            <a:avLst>
              <a:gd name="adj" fmla="val 954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first_mode/ozgen_m3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563624"/>
            <a:ext cx="6748272" cy="44988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456432"/>
          </a:xfrm>
          <a:prstGeom prst="roundRect">
            <a:avLst>
              <a:gd name="adj" fmla="val 158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73936"/>
            <a:ext cx="3520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2.53)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temp Te: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 K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Özgen T-dependent μ, κ (Sutherland-type)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scale: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L* = √(νₑ x / Uₑ),  R = √Re_x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2D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26680" y="4901184"/>
            <a:ext cx="3977640" cy="1426464"/>
          </a:xfrm>
          <a:prstGeom prst="roundRect">
            <a:avLst>
              <a:gd name="adj" fmla="val 3846"/>
            </a:avLst>
          </a:prstGeom>
          <a:solidFill>
            <a:srgbClr val="FBF1E0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29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10912"/>
            <a:ext cx="1463040" cy="292608"/>
          </a:xfrm>
          <a:prstGeom prst="rect">
            <a:avLst>
              <a:gd name="adj" fmla="val 12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76672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mode resolvable over 64% of cutoff branch, agrees to 6% there; low-alpha onset CS-blocked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ozgen_m3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Özgen &amp; Kırcalı (2008) Fig 3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4 · neutral curve (two lobes)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57200" y="1346880"/>
            <a:ext cx="7040880" cy="4932335"/>
          </a:xfrm>
          <a:prstGeom prst="roundRect">
            <a:avLst>
              <a:gd name="adj" fmla="val 927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first_mode/ozgen_m4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93184"/>
            <a:ext cx="6748272" cy="463972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456432"/>
          </a:xfrm>
          <a:prstGeom prst="roundRect">
            <a:avLst>
              <a:gd name="adj" fmla="val 158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73936"/>
            <a:ext cx="3520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3.72)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temp Te: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 K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Özgen T-dependent μ, κ (Sutherland-type)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scale: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L* = √(νₑ x / Uₑ),  R = √Re_x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2D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26680" y="4901184"/>
            <a:ext cx="3977640" cy="1426464"/>
          </a:xfrm>
          <a:prstGeom prst="roundRect">
            <a:avLst>
              <a:gd name="adj" fmla="val 3846"/>
            </a:avLst>
          </a:prstGeom>
          <a:solidFill>
            <a:srgbClr val="FBF1E0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29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10912"/>
            <a:ext cx="1463040" cy="292608"/>
          </a:xfrm>
          <a:prstGeom prst="rect">
            <a:avLst>
              <a:gd name="adj" fmla="val 12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76672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4-branch match: 3/4 branches agree (2nd upper 0.2%, 2nd lower 0.1%, 1st cutoff 2.4%); only 1st-mode low-alpha onset tail CS-limited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ozgen_m4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Özgen &amp; Kırcalı (2008) Fig 3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6 · neutral curve (two lobes)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57200" y="1346880"/>
            <a:ext cx="7040880" cy="4932335"/>
          </a:xfrm>
          <a:prstGeom prst="roundRect">
            <a:avLst>
              <a:gd name="adj" fmla="val 927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first_mode/ozgen_m6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93184"/>
            <a:ext cx="6748272" cy="463972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456432"/>
          </a:xfrm>
          <a:prstGeom prst="roundRect">
            <a:avLst>
              <a:gd name="adj" fmla="val 158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73936"/>
            <a:ext cx="3520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7.11)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temp Te: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 K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Özgen T-dependent μ, κ (Sutherland-type)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scale: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L* = √(νₑ x / Uₑ),  R = √Re_x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2D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26680" y="4901184"/>
            <a:ext cx="3977640" cy="1426464"/>
          </a:xfrm>
          <a:prstGeom prst="roundRect">
            <a:avLst>
              <a:gd name="adj" fmla="val 3846"/>
            </a:avLst>
          </a:prstGeom>
          <a:solidFill>
            <a:srgbClr val="FBF1E0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29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10912"/>
            <a:ext cx="1463040" cy="292608"/>
          </a:xfrm>
          <a:prstGeom prst="rect">
            <a:avLst>
              <a:gd name="adj" fmla="val 12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76672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4-branch match: 3/4 branches agree (2nd upper 1.6%, 2nd lower 1.1%, 1st cutoff 8.5%); only 1st-mode low-alpha onset differs (Delta-alpha~0.005-0.01, rel-err inflated by tiny denominator)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ozgen_m6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Özgen &amp; Kırcalı (2008) Fig 3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7 · neutral curve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57200" y="1346880"/>
            <a:ext cx="7040880" cy="4932335"/>
          </a:xfrm>
          <a:prstGeom prst="roundRect">
            <a:avLst>
              <a:gd name="adj" fmla="val 927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first_mode/ozgen_m7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93184"/>
            <a:ext cx="6748272" cy="463972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456432"/>
          </a:xfrm>
          <a:prstGeom prst="roundRect">
            <a:avLst>
              <a:gd name="adj" fmla="val 158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73936"/>
            <a:ext cx="3520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9.32)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temp Te: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 K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Özgen T-dependent μ, κ (Sutherland-type)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scale: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L* = √(νₑ x / Uₑ),  R = √Re_x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2D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26680" y="4901184"/>
            <a:ext cx="3977640" cy="1426464"/>
          </a:xfrm>
          <a:prstGeom prst="roundRect">
            <a:avLst>
              <a:gd name="adj" fmla="val 3846"/>
            </a:avLst>
          </a:prstGeom>
          <a:solidFill>
            <a:srgbClr val="FBF1E0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29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10912"/>
            <a:ext cx="1463040" cy="292608"/>
          </a:xfrm>
          <a:prstGeom prst="rect">
            <a:avLst>
              <a:gd name="adj" fmla="val 12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76672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2nd-mode cutoff agrees (2%); pyMack fills the inter-mode stable gap Özgen shows (connected vs separated) — 2nd-onset/1st-cutoff inner branches have no pyMack c_i=0 counterpart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ozgen_m7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Özgen &amp; Kırcalı (2008) Fig 3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8 · neutral curve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57200" y="1346880"/>
            <a:ext cx="7040880" cy="4932335"/>
          </a:xfrm>
          <a:prstGeom prst="roundRect">
            <a:avLst>
              <a:gd name="adj" fmla="val 927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first_mode/ozgen_m8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93184"/>
            <a:ext cx="6748272" cy="463972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456432"/>
          </a:xfrm>
          <a:prstGeom prst="roundRect">
            <a:avLst>
              <a:gd name="adj" fmla="val 158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73936"/>
            <a:ext cx="3520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11.86)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temp Te: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 K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Özgen T-dependent μ, κ (Sutherland-type)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scale: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L* = √(νₑ x / Uₑ),  R = √Re_x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2D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26680" y="4901184"/>
            <a:ext cx="3977640" cy="1426464"/>
          </a:xfrm>
          <a:prstGeom prst="roundRect">
            <a:avLst>
              <a:gd name="adj" fmla="val 3846"/>
            </a:avLst>
          </a:prstGeom>
          <a:solidFill>
            <a:srgbClr val="FBF1E0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29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10912"/>
            <a:ext cx="1463040" cy="292608"/>
          </a:xfrm>
          <a:prstGeom prst="rect">
            <a:avLst>
              <a:gd name="adj" fmla="val 12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76672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2nd-mode cutoff agrees (4%); pyMack fills the inter-mode stable gap Özgen shows (connected vs separated) — 2nd-onset/1st-cutoff inner branches have no pyMack c_i=0 counterpart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ozgen_m8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48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86968" y="1463040"/>
            <a:ext cx="1042416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(Mack) mode — validated.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Agrees with Mack (1984), Malik (1990), Balakumar &amp; Malik (1992), Ma &amp; Zhong (2003), Egorov (2006), an independent collaborator solver, and a cone (Sivasubramanian &amp; Fasel 2015), across Mach 4.5–10.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mode — agrees where the discrete mode is resolvable.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Özgen &amp; Kırcalı (2008) neutral curves M = 2–10: second-mode branches and the first-mode cutoff agree once a discrete-mode (eigenfunction-decay) extractor replaces the phase-speed-band classifier.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open items.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low-α first-mode onset at low Mach is continuous-spectrum-limited; at high Mach pyMack marginally over-predicts the inter-mode region. Mack Fig 10.1/10.4 low-Mach first modes await the same discrete-mode scrutiny.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pyMack LST Verification</dc:title>
  <dc:subject>PptxGenJS Presentation</dc:subject>
  <dc:creator>pyMack</dc:creator>
  <cp:lastModifiedBy>pyMack</cp:lastModifiedBy>
  <cp:revision>1</cp:revision>
  <dcterms:created xsi:type="dcterms:W3CDTF">2026-06-23T07:35:05Z</dcterms:created>
  <dcterms:modified xsi:type="dcterms:W3CDTF">2026-06-23T07:35:05Z</dcterms:modified>
</cp:coreProperties>
</file>