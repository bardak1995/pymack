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pyMack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868680" y="2697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Compressible Linear Stability Theory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86968" y="331012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against published benchmarks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86968" y="4160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pPr indent="0" marL="0">
              <a:buNone/>
            </a:pPr>
            <a:r>
              <a:rPr lang="en-US" sz="18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validation cases   · 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pPr indent="0" marL="0">
              <a:buNone/>
            </a:pPr>
            <a:r>
              <a:rPr lang="en-US" sz="18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independent sources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86968" y="58064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Mack (1984)   ·   Malik (1990)   ·   Balakumar &amp; Malik (1992)   ·   Ma &amp; Zhong (2003)   ·   Egorov et al. (2006)   ·   Sivasubramanian &amp; Fasel (2015)   ·   Özgen &amp; Kırcalı (2008)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86968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2120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pyMack run at each benchmark's exact conditions, overlaid on the published / independent reference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4F7F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89280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02920" y="26791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cases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17830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4F7F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89280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383280" y="26791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second-mode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4F7F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3640" y="189280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263640" y="26791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first-mode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0" y="17830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4F7F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0" y="189280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44000" y="26791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3520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slide shows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2920" y="3931920"/>
            <a:ext cx="11155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pyMack result overlaid on the benchmark</a:t>
            </a:r>
            <a:endParaRPr lang="en-US" sz="14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for neutral curves, the pyMack cᵢ = 0 contour vs. the digitized paper curve; for growth rates / eigenvalues, the pyMack curve vs. the reference points.</a:t>
            </a:r>
            <a:endParaRPr lang="en-US" sz="14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run conditions</a:t>
            </a:r>
            <a:endParaRPr lang="en-US" sz="14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Mach, gas, wall BC (with adiabatic recovery Tw/Te), edge temperature, Prandtl, transport / viscosity law, Reynolds scaling, and formulation.</a:t>
            </a:r>
            <a:endParaRPr lang="en-US" sz="14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agreement metric</a:t>
            </a:r>
            <a:endParaRPr lang="en-US" sz="14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median relative error or eigenvalue match, at the digitization noise floor where applicable.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2606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 (Mack) mode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86968" y="3611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validation cases — pyMack's design target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Balakumar &amp; Malik (1992)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75488" y="768096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4.5 · discrete vs continuous spectrum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57200" y="1337826"/>
            <a:ext cx="7040880" cy="4950443"/>
          </a:xfrm>
          <a:prstGeom prst="roundRect">
            <a:avLst>
              <a:gd name="adj" fmla="val 924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5" name="Image 0" descr="C:/Users/merts/OneDrive/Masaüstü/MS_LST/verification/second_mode/balakumar_malik1992_branches/over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484130"/>
            <a:ext cx="6748272" cy="465783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298448"/>
            <a:ext cx="3977640" cy="3520440"/>
          </a:xfrm>
          <a:prstGeom prst="roundRect">
            <a:avLst>
              <a:gd name="adj" fmla="val 1558"/>
            </a:avLst>
          </a:prstGeom>
          <a:solidFill>
            <a:srgbClr val="F4F7F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964424" y="14447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CONDITIONS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964424" y="1755648"/>
            <a:ext cx="3520440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/ γ: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/ 1.4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BC: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adiabatic (recovery Tw/Te ≈ 4.44)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temp Te: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61.6 K  (T0 = 311 K)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Prandtl Pr: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Reynolds: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1000  (= √Re_x)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ω: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scale: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L* = √(νₑ x / Uₑ)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viscosity λ: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(λμ/μ; 0 = Stokes)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Collocation / domain: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150 Cheb.; y_max = 40 L*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Disturbance T BC: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isothermal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726680" y="4910328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FBF1E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964424" y="50383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012680" y="5020056"/>
            <a:ext cx="1463040" cy="292608"/>
          </a:xfrm>
          <a:prstGeom prst="rect">
            <a:avLst>
              <a:gd name="adj" fmla="val 125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64424" y="5367528"/>
            <a:ext cx="3520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discrete_c_phase=0.908; disc_alpha_r_rel_err=0.000953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57200" y="643737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balakumar_malik1992_branches</a:t>
            </a:r>
            <a:pPr indent="0" marL="0">
              <a:buNone/>
            </a:pPr>
            <a:r>
              <a:rPr lang="en-US" sz="900" dirty="0">
                <a:solidFill>
                  <a:srgbClr val="7C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pyMack vs. benchmark — verification audit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Balakumar &amp; Malik (1992)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75488" y="768096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4.5 · spatial eigenvalue α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816571" y="1298448"/>
            <a:ext cx="6322139" cy="502920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5" name="Image 0" descr="C:/Users/merts/OneDrive/Masaüstü/MS_LST/verification/second_mode/balakumar_malik1992_via_xirenfu/over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875" y="1444752"/>
            <a:ext cx="6029531" cy="47365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298448"/>
            <a:ext cx="3977640" cy="3520440"/>
          </a:xfrm>
          <a:prstGeom prst="roundRect">
            <a:avLst>
              <a:gd name="adj" fmla="val 1558"/>
            </a:avLst>
          </a:prstGeom>
          <a:solidFill>
            <a:srgbClr val="F4F7F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964424" y="14447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CONDITIONS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964424" y="1755648"/>
            <a:ext cx="3520440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/ γ: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/ 1.4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BC: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adiabatic (recovery Tw/Te ≈ 4.44)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temp Te: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61.6 K  (T0 = 311 K)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Prandtl Pr: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Reynolds: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1000  (= √Re_x)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ω: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scale: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L* = √(νₑ x / Uₑ)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viscosity λ: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(λμ/μ; 0 = Stokes)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Collocation / domain: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120 Cheb.; y_max = 40 L*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726680" y="4910328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FBF1E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964424" y="50383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012680" y="5020056"/>
            <a:ext cx="1463040" cy="292608"/>
          </a:xfrm>
          <a:prstGeom prst="rect">
            <a:avLst>
              <a:gd name="adj" fmla="val 125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64424" y="5367528"/>
            <a:ext cx="3520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α_r 0.1%, α_i 9.7% (N=120)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57200" y="643737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balakumar_malik1992_via_xirenfu</a:t>
            </a:r>
            <a:pPr indent="0" marL="0">
              <a:buNone/>
            </a:pPr>
            <a:r>
              <a:rPr lang="en-US" sz="900" dirty="0">
                <a:solidFill>
                  <a:srgbClr val="7C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pyMack vs. benchmark — verification audit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Sivasubramanian &amp; Fasel (2015)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75488" y="768096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7° cone, M_e = 5.36 · 2nd-mode growth / N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57200" y="2244062"/>
            <a:ext cx="7040880" cy="3137972"/>
          </a:xfrm>
          <a:prstGeom prst="roundRect">
            <a:avLst>
              <a:gd name="adj" fmla="val 1457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5" name="Image 0" descr="C:/Users/merts/OneDrive/Masaüstü/MS_LST/verification/second_mode/cone_sivasubramanian_fasel_2015/over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2390366"/>
            <a:ext cx="6748272" cy="28453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298448"/>
            <a:ext cx="3977640" cy="3520440"/>
          </a:xfrm>
          <a:prstGeom prst="roundRect">
            <a:avLst>
              <a:gd name="adj" fmla="val 1558"/>
            </a:avLst>
          </a:prstGeom>
          <a:solidFill>
            <a:srgbClr val="F4F7F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964424" y="14447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CONDITIONS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964424" y="1755648"/>
            <a:ext cx="3520440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5.356  (edge; M∞ = 6)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/ γ: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/ 1.4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BC: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isothermal Tw=300 K (Tw/Te=4.70)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Prandtl Pr: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Viscosity / transport: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Sutherland (S=110.4 K), Pr=0.72, gamma=1.4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2nd mode (L* scale, lambda_mu_ratio=1.2), cone Mangler N=int 6 sigma_L dR_eq, clip_negative (envelope from lower neutral point)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viscosity λ: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(λμ/μ; 0 = Stokes)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Collocation / domain: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90 Cheb.; y_max = 40 L*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726680" y="4910328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FBF1E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964424" y="50383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012680" y="5020056"/>
            <a:ext cx="1463040" cy="292608"/>
          </a:xfrm>
          <a:prstGeom prst="rect">
            <a:avLst>
              <a:gd name="adj" fmla="val 125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64424" y="5367528"/>
            <a:ext cx="3520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f: 210 kHz EXACT match (pyMack peak-N at 205 kHz; N=8.05 at the thesis 210 kHz). N: pyMack domain-matched 8.0-8.1 vs thesis 9.5 -&gt; ~15% short (Mangler …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57200" y="643737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cone_sivasubramanian_fasel_2015</a:t>
            </a:r>
            <a:pPr indent="0" marL="0">
              <a:buNone/>
            </a:pPr>
            <a:r>
              <a:rPr lang="en-US" sz="900" dirty="0">
                <a:solidFill>
                  <a:srgbClr val="7C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pyMack vs. benchmark — verification audit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Egorov, Fedorov &amp; Soudakov (2006)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75488" y="768096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6 · 2nd-mode growth band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57200" y="1401574"/>
            <a:ext cx="7040880" cy="4822948"/>
          </a:xfrm>
          <a:prstGeom prst="roundRect">
            <a:avLst>
              <a:gd name="adj" fmla="val 948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5" name="Image 0" descr="C:/Users/merts/OneDrive/Masaüstü/MS_LST/verification/second_mode/egorov2006_m6/over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547878"/>
            <a:ext cx="6748272" cy="45303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298448"/>
            <a:ext cx="3977640" cy="3520440"/>
          </a:xfrm>
          <a:prstGeom prst="roundRect">
            <a:avLst>
              <a:gd name="adj" fmla="val 1558"/>
            </a:avLst>
          </a:prstGeom>
          <a:solidFill>
            <a:srgbClr val="F4F7F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964424" y="14447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CONDITIONS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964424" y="1755648"/>
            <a:ext cx="3520440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/ γ: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(perfect gas) / 1.4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BC: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adiabatic (recovery Tw/Te ≈ 7.11)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Prandtl Pr: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Viscosity / transport: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power_law(0.7)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Reynolds: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Re_x = 2×10⁶ (R = √Re_x)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2D second mode (solve_spatial, L*)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viscosity λ: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(λμ/μ; 0 = Stokes)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Collocation / domain: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140 Cheb.; y_max = 40 L*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726680" y="4910328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FBF1E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964424" y="50383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012680" y="5020056"/>
            <a:ext cx="1463040" cy="292608"/>
          </a:xfrm>
          <a:prstGeom prst="rect">
            <a:avLst>
              <a:gd name="adj" fmla="val 125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64424" y="5367528"/>
            <a:ext cx="3520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rel_err=0.075; pymack_value=215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57200" y="643737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egorov2006_m6</a:t>
            </a:r>
            <a:pPr indent="0" marL="0">
              <a:buNone/>
            </a:pPr>
            <a:r>
              <a:rPr lang="en-US" sz="900" dirty="0">
                <a:solidFill>
                  <a:srgbClr val="7C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pyMack vs. benchmark — verification audit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Mack (1984) Fig 10.6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75488" y="768096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10 · max 2nd-mode temporal growth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88044" y="1298448"/>
            <a:ext cx="6579192" cy="502920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5" name="Image 0" descr="C:/Users/merts/OneDrive/Masaüstü/MS_LST/verification/second_mode/mack_fig10_6_M100/over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48" y="1444752"/>
            <a:ext cx="6286584" cy="47365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298448"/>
            <a:ext cx="3977640" cy="3520440"/>
          </a:xfrm>
          <a:prstGeom prst="roundRect">
            <a:avLst>
              <a:gd name="adj" fmla="val 1558"/>
            </a:avLst>
          </a:prstGeom>
          <a:solidFill>
            <a:srgbClr val="F4F7F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964424" y="14447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CONDITIONS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964424" y="1755648"/>
            <a:ext cx="3520440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/ γ: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/ 1.4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BC: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adiabatic (recovery Tw/Te ≈ 17.97)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Prandtl Pr: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Viscosity / transport: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Mack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2D max second-mode growth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viscosity λ: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(λμ/μ; 0 = Stokes)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Collocation / domain: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200 Cheb.; y_max = 140 L*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726680" y="4910328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EAF4EE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964424" y="50383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012680" y="5020056"/>
            <a:ext cx="1463040" cy="292608"/>
          </a:xfrm>
          <a:prstGeom prst="rect">
            <a:avLst>
              <a:gd name="adj" fmla="val 12500"/>
            </a:avLst>
          </a:prstGeom>
          <a:solidFill>
            <a:srgbClr val="2C7A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64424" y="5367528"/>
            <a:ext cx="3520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 median 4.0%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57200" y="643737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mack_fig10_6_M100</a:t>
            </a:r>
            <a:pPr indent="0" marL="0">
              <a:buNone/>
            </a:pPr>
            <a:r>
              <a:rPr lang="en-US" sz="900" dirty="0">
                <a:solidFill>
                  <a:srgbClr val="7C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pyMack vs. benchmark — verification audit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Mack (1984) Fig 10.6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75488" y="768096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4.5 · max 2nd-mode temporal growth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88044" y="1298448"/>
            <a:ext cx="6579192" cy="502920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5" name="Image 0" descr="C:/Users/merts/OneDrive/Masaüstü/MS_LST/verification/second_mode/mack_fig10_6_M45/over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48" y="1444752"/>
            <a:ext cx="6286584" cy="47365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298448"/>
            <a:ext cx="3977640" cy="3520440"/>
          </a:xfrm>
          <a:prstGeom prst="roundRect">
            <a:avLst>
              <a:gd name="adj" fmla="val 1558"/>
            </a:avLst>
          </a:prstGeom>
          <a:solidFill>
            <a:srgbClr val="F4F7F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964424" y="14447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CONDITIONS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964424" y="1755648"/>
            <a:ext cx="3520440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/ γ: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/ 1.4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BC: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adiabatic (recovery Tw/Te ≈ 4.44)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Prandtl Pr: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Viscosity / transport: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Mack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2D max second-mode growth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viscosity λ: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(λμ/μ; 0 = Stokes)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Collocation / domain: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120 Cheb.; y_max = 40 L*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726680" y="4910328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EAF4EE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964424" y="50383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012680" y="5020056"/>
            <a:ext cx="1463040" cy="292608"/>
          </a:xfrm>
          <a:prstGeom prst="rect">
            <a:avLst>
              <a:gd name="adj" fmla="val 12500"/>
            </a:avLst>
          </a:prstGeom>
          <a:solidFill>
            <a:srgbClr val="2C7A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64424" y="5367528"/>
            <a:ext cx="3520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 median 1.0%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57200" y="643737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mack_fig10_6_M45</a:t>
            </a:r>
            <a:pPr indent="0" marL="0">
              <a:buNone/>
            </a:pPr>
            <a:r>
              <a:rPr lang="en-US" sz="900" dirty="0">
                <a:solidFill>
                  <a:srgbClr val="7C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pyMack vs. benchmark — verification audit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Mack (1984) Fig 10.6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75488" y="768096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5.8 · max 2nd-mode temporal growth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88044" y="1298448"/>
            <a:ext cx="6579192" cy="502920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5" name="Image 0" descr="C:/Users/merts/OneDrive/Masaüstü/MS_LST/verification/second_mode/mack_fig10_6_M58/over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48" y="1444752"/>
            <a:ext cx="6286584" cy="47365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298448"/>
            <a:ext cx="3977640" cy="3520440"/>
          </a:xfrm>
          <a:prstGeom prst="roundRect">
            <a:avLst>
              <a:gd name="adj" fmla="val 1558"/>
            </a:avLst>
          </a:prstGeom>
          <a:solidFill>
            <a:srgbClr val="F4F7F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964424" y="14447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CONDITIONS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964424" y="1755648"/>
            <a:ext cx="3520440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/ γ: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/ 1.4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BC: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adiabatic (recovery Tw/Te ≈ 6.71)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Prandtl Pr: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Viscosity / transport: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Mack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2D max second-mode growth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viscosity λ: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(λμ/μ; 0 = Stokes)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Collocation / domain: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150 Cheb.; y_max = 64 L*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726680" y="4910328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FBF1E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964424" y="50383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012680" y="5020056"/>
            <a:ext cx="1463040" cy="292608"/>
          </a:xfrm>
          <a:prstGeom prst="rect">
            <a:avLst>
              <a:gd name="adj" fmla="val 125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64424" y="5367528"/>
            <a:ext cx="3520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 median 6.7%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57200" y="643737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mack_fig10_6_M58</a:t>
            </a:r>
            <a:pPr indent="0" marL="0">
              <a:buNone/>
            </a:pPr>
            <a:r>
              <a:rPr lang="en-US" sz="900" dirty="0">
                <a:solidFill>
                  <a:srgbClr val="7C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pyMack vs. benchmark — verification audit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Mack (1984) Fig 10.6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75488" y="768096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7.0 · max 2nd-mode temporal growth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88044" y="1298448"/>
            <a:ext cx="6579192" cy="502920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5" name="Image 0" descr="C:/Users/merts/OneDrive/Masaüstü/MS_LST/verification/second_mode/mack_fig10_6_M70/over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48" y="1444752"/>
            <a:ext cx="6286584" cy="47365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298448"/>
            <a:ext cx="3977640" cy="3520440"/>
          </a:xfrm>
          <a:prstGeom prst="roundRect">
            <a:avLst>
              <a:gd name="adj" fmla="val 1558"/>
            </a:avLst>
          </a:prstGeom>
          <a:solidFill>
            <a:srgbClr val="F4F7F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964424" y="14447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CONDITIONS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964424" y="1755648"/>
            <a:ext cx="3520440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/ γ: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/ 1.4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BC: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adiabatic (recovery Tw/Te ≈ 9.32)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Prandtl Pr: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Viscosity / transport: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Mack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2D max second-mode growth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viscosity λ: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(λμ/μ; 0 = Stokes)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Collocation / domain: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170 Cheb.; y_max = 88 L*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726680" y="4910328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EAF4EE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964424" y="50383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012680" y="5020056"/>
            <a:ext cx="1463040" cy="292608"/>
          </a:xfrm>
          <a:prstGeom prst="rect">
            <a:avLst>
              <a:gd name="adj" fmla="val 12500"/>
            </a:avLst>
          </a:prstGeom>
          <a:solidFill>
            <a:srgbClr val="2C7A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64424" y="5367528"/>
            <a:ext cx="3520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 median 2.8%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57200" y="643737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mack_fig10_6_M70</a:t>
            </a:r>
            <a:pPr indent="0" marL="0">
              <a:buNone/>
            </a:pPr>
            <a:r>
              <a:rPr lang="en-US" sz="900" dirty="0">
                <a:solidFill>
                  <a:srgbClr val="7C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pyMack vs. benchmark — verification audit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Malik (1990) Case 6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75488" y="768096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4.5 · spatial eigenvalue α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816571" y="1298448"/>
            <a:ext cx="6322139" cy="502920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5" name="Image 0" descr="C:/Users/merts/OneDrive/Masaüstü/MS_LST/verification/second_mode/malik_case6/over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875" y="1444752"/>
            <a:ext cx="6029531" cy="47365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298448"/>
            <a:ext cx="3977640" cy="3520440"/>
          </a:xfrm>
          <a:prstGeom prst="roundRect">
            <a:avLst>
              <a:gd name="adj" fmla="val 1558"/>
            </a:avLst>
          </a:prstGeom>
          <a:solidFill>
            <a:srgbClr val="F4F7F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964424" y="14447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CONDITIONS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964424" y="1755648"/>
            <a:ext cx="3520440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/ γ: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/ 1.4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BC: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adiabatic (recovery Tw/Te ≈ 4.39)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temp Te: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121.0 K  (T0 = 611 K)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Prandtl Pr: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Reynolds: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1500  (= √Re_x)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ω: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scale: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L* = √(νₑ x / Uₑ)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viscosity λ: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(λμ/μ; 0 = Stokes)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Collocation / domain: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120 Cheb.; y_max = 40 L*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726680" y="4910328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EAF4EE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964424" y="50383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012680" y="5020056"/>
            <a:ext cx="1463040" cy="292608"/>
          </a:xfrm>
          <a:prstGeom prst="rect">
            <a:avLst>
              <a:gd name="adj" fmla="val 12500"/>
            </a:avLst>
          </a:prstGeom>
          <a:solidFill>
            <a:srgbClr val="2C7A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64424" y="5367528"/>
            <a:ext cx="3520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α_r 0.0%, α_i 0.1% (N=120)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57200" y="643737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malik_case6</a:t>
            </a:r>
            <a:pPr indent="0" marL="0">
              <a:buNone/>
            </a:pPr>
            <a:r>
              <a:rPr lang="en-US" sz="900" dirty="0">
                <a:solidFill>
                  <a:srgbClr val="7C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pyMack vs. benchmark — verification audit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 &amp; Zhong (2003), JFM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75488" y="768096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4.5 · 2nd-mode neutral curve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57200" y="1542288"/>
            <a:ext cx="7040880" cy="4541520"/>
          </a:xfrm>
          <a:prstGeom prst="roundRect">
            <a:avLst>
              <a:gd name="adj" fmla="val 1007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5" name="Image 0" descr="C:/Users/merts/OneDrive/Masaüstü/MS_LST/verification/second_mode/mazhong2003_m4p5/over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688592"/>
            <a:ext cx="6748272" cy="424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298448"/>
            <a:ext cx="3977640" cy="3520440"/>
          </a:xfrm>
          <a:prstGeom prst="roundRect">
            <a:avLst>
              <a:gd name="adj" fmla="val 1558"/>
            </a:avLst>
          </a:prstGeom>
          <a:solidFill>
            <a:srgbClr val="F4F7F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964424" y="14447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CONDITIONS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964424" y="1755648"/>
            <a:ext cx="3520440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/ γ: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/ 1.4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BC: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adiabatic (recovery Tw/Te ≈ 4.44)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temp Te: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65.2 K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Prandtl Pr: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Viscosity / transport: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Sutherland viscosity (S=110.33 K), constant Pr=0.72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Reynolds: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Re = 7.2×10⁶ /m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freq F: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0.00022  (ω = R·F)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second mode (Mack), F fixed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viscosity λ: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(λμ/μ; 0 = Stokes)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Collocation / domain: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130 Cheb.; y_max = 40 L*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Disturbance T BC: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adiabatic (Fig.15 neutral curve)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726680" y="4910328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EAF4EE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964424" y="50383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012680" y="5020056"/>
            <a:ext cx="1463040" cy="292608"/>
          </a:xfrm>
          <a:prstGeom prst="rect">
            <a:avLst>
              <a:gd name="adj" fmla="val 12500"/>
            </a:avLst>
          </a:prstGeom>
          <a:solidFill>
            <a:srgbClr val="2C7A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64424" y="5367528"/>
            <a:ext cx="3520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2nd-mode neutral band matches Fig.15 across full omega-R range (branch I/II 3.1%/3.4% at F=2.2e-4, anchors 806/999.6); 1st-mode cutoff branch tracks, onset …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57200" y="643737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mazhong2003_m4p5</a:t>
            </a:r>
            <a:pPr indent="0" marL="0">
              <a:buNone/>
            </a:pPr>
            <a:r>
              <a:rPr lang="en-US" sz="900" dirty="0">
                <a:solidFill>
                  <a:srgbClr val="7C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pyMack vs. benchmark — verification audit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collaborator LST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75488" y="768096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5.35 · N₂ · 2nd-mode neutral curve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57200" y="1311215"/>
            <a:ext cx="7040880" cy="5003666"/>
          </a:xfrm>
          <a:prstGeom prst="roundRect">
            <a:avLst>
              <a:gd name="adj" fmla="val 914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5" name="Image 0" descr="C:/Users/merts/OneDrive/Masaüstü/MS_LST/verification/second_mode/sean_m5p35/over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457519"/>
            <a:ext cx="6748272" cy="471105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298448"/>
            <a:ext cx="3977640" cy="3520440"/>
          </a:xfrm>
          <a:prstGeom prst="roundRect">
            <a:avLst>
              <a:gd name="adj" fmla="val 1558"/>
            </a:avLst>
          </a:prstGeom>
          <a:solidFill>
            <a:srgbClr val="F4F7F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964424" y="14447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CONDITIONS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964424" y="1755648"/>
            <a:ext cx="3520440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5.35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/ γ: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nitrogen / 1.4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BC: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adiabatic (recovery Tw/Te ≈ 5.86)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temp Te: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64.0 K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Prandtl Pr: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Viscosity / transport: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power-law Blasius (viscosity exponent 0.74, Pr 0.72)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Reynolds: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Re = 11.76×10⁶ /m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second mode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726680" y="4910328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FBF1E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964424" y="50383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012680" y="5020056"/>
            <a:ext cx="1463040" cy="292608"/>
          </a:xfrm>
          <a:prstGeom prst="rect">
            <a:avLst>
              <a:gd name="adj" fmla="val 125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64424" y="5367528"/>
            <a:ext cx="3520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3.2 mm; lower 1.3 mm (gated bands)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57200" y="643737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sean_m5p35</a:t>
            </a:r>
            <a:pPr indent="0" marL="0">
              <a:buNone/>
            </a:pPr>
            <a:r>
              <a:rPr lang="en-US" sz="900" dirty="0">
                <a:solidFill>
                  <a:srgbClr val="7C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pyMack vs. benchmark — verification audit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2606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mode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86968" y="3611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validation cases — Özgen Fig 3 + Mack oblique first mode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Mack (1984) Fig 10.3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75488" y="768096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1.3, ψ = 45° · max 1st-mode growth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15722" y="1298448"/>
            <a:ext cx="6923837" cy="502920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5" name="Image 0" descr="C:/Users/merts/OneDrive/Masaüstü/MS_LST/verification/first_mode/mack_fig10_3_m1p3/over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026" y="1444752"/>
            <a:ext cx="6631229" cy="47365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298448"/>
            <a:ext cx="3977640" cy="3520440"/>
          </a:xfrm>
          <a:prstGeom prst="roundRect">
            <a:avLst>
              <a:gd name="adj" fmla="val 1558"/>
            </a:avLst>
          </a:prstGeom>
          <a:solidFill>
            <a:srgbClr val="F4F7F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964424" y="14447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CONDITIONS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964424" y="1755648"/>
            <a:ext cx="3520440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/ γ: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(ideal, Pr=0.72) / 1.4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BC: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adiabatic (recovery Tw/Te ≈ 1.29)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temp Te: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228.0 K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Prandtl Pr: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Viscosity / transport: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Sutherland viscosity, compressible boundary layer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scale: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L* = √(νₑ x / Uₑ)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first mode, max growth over alpha (3D oblique), ψ = 45.0°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Collocation / domain: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y_max = 26 L*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726680" y="4910328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EAF4EE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964424" y="50383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012680" y="5020056"/>
            <a:ext cx="1463040" cy="292608"/>
          </a:xfrm>
          <a:prstGeom prst="rect">
            <a:avLst>
              <a:gd name="adj" fmla="val 12500"/>
            </a:avLst>
          </a:prstGeom>
          <a:solidFill>
            <a:srgbClr val="2C7A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64424" y="5367528"/>
            <a:ext cx="3520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 median 3.8%; Table-10.1 anchor 0.9%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57200" y="643737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mack_fig10_3_m1p3</a:t>
            </a:r>
            <a:pPr indent="0" marL="0">
              <a:buNone/>
            </a:pPr>
            <a:r>
              <a:rPr lang="en-US" sz="900" dirty="0">
                <a:solidFill>
                  <a:srgbClr val="7C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pyMack vs. benchmark — verification audit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Mack (1984) Fig 10.4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75488" y="768096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4.5 · max 1st-mode growth (oblique)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15722" y="1298448"/>
            <a:ext cx="6923837" cy="502920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5" name="Image 0" descr="C:/Users/merts/OneDrive/Masaüstü/MS_LST/verification/first_mode/mack_fig10_4_M45/over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026" y="1444752"/>
            <a:ext cx="6631229" cy="47365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298448"/>
            <a:ext cx="3977640" cy="3520440"/>
          </a:xfrm>
          <a:prstGeom prst="roundRect">
            <a:avLst>
              <a:gd name="adj" fmla="val 1558"/>
            </a:avLst>
          </a:prstGeom>
          <a:solidFill>
            <a:srgbClr val="F4F7F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964424" y="14447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CONDITIONS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964424" y="1755648"/>
            <a:ext cx="3520440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/ γ: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/ 1.4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BC: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adiabatic (recovery Tw/Te ≈ 4.44)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Prandtl Pr: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Viscosity / transport: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Mack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3D max first-mode growth over (alpha, psi)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viscosity λ: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(λμ/μ; 0 = Stokes)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Collocation / domain: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130 Cheb.; y_max = 42 L*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726680" y="4910328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FBF1E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964424" y="50383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012680" y="5020056"/>
            <a:ext cx="1463040" cy="292608"/>
          </a:xfrm>
          <a:prstGeom prst="rect">
            <a:avLst>
              <a:gd name="adj" fmla="val 125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64424" y="5367528"/>
            <a:ext cx="3520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 median 6.9%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57200" y="643737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mack_fig10_4_M45</a:t>
            </a:r>
            <a:pPr indent="0" marL="0">
              <a:buNone/>
            </a:pPr>
            <a:r>
              <a:rPr lang="en-US" sz="900" dirty="0">
                <a:solidFill>
                  <a:srgbClr val="7C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pyMack vs. benchmark — verification audit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Özgen &amp; Kırcalı (2008) Fig 3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75488" y="768096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10 · neutral curve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7040880" cy="4791456"/>
          </a:xfrm>
          <a:prstGeom prst="roundRect">
            <a:avLst>
              <a:gd name="adj" fmla="val 954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5" name="Image 0" descr="C:/Users/merts/OneDrive/Masaüstü/MS_LST/verification/first_mode/ozgen_m10/over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563624"/>
            <a:ext cx="6748272" cy="44988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298448"/>
            <a:ext cx="3977640" cy="3520440"/>
          </a:xfrm>
          <a:prstGeom prst="roundRect">
            <a:avLst>
              <a:gd name="adj" fmla="val 1558"/>
            </a:avLst>
          </a:prstGeom>
          <a:solidFill>
            <a:srgbClr val="F4F7F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964424" y="14447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CONDITIONS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964424" y="1755648"/>
            <a:ext cx="3520440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/ γ: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/ 1.4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BC: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adiabatic (recovery Tw/Te ≈ 17.97)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temp Te: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288 K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Prandtl Pr: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Viscosity / transport: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Özgen T-dependent μ, κ (Sutherland-type)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scale: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L* = √(νₑ x / Uₑ),  R = √Re_x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2D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Collocation / domain: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≈ 180–240 Cheb.; y_max 8–45 δ*/L*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Disturbance T BC: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isothermal T̂(0)=0 (Özgen Eq. 19)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selection: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eigenfunction-decay + y_max-stationarity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726680" y="4910328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FBF1E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964424" y="50383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012680" y="5020056"/>
            <a:ext cx="1463040" cy="292608"/>
          </a:xfrm>
          <a:prstGeom prst="rect">
            <a:avLst>
              <a:gd name="adj" fmla="val 125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64424" y="5367528"/>
            <a:ext cx="3520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full-contour match: robust branches median 50.0%; second_upper 5%(84%cov); second_lower 62%(77%cov); first_upper 95%(85%cov); first_lower 53%(85%cov)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57200" y="643737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ozgen_m10</a:t>
            </a:r>
            <a:pPr indent="0" marL="0">
              <a:buNone/>
            </a:pPr>
            <a:r>
              <a:rPr lang="en-US" sz="900" dirty="0">
                <a:solidFill>
                  <a:srgbClr val="7C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pyMack vs. benchmark — verification audit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Özgen &amp; Kırcalı (2008) Fig 3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75488" y="768096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2 · neutral curve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7040880" cy="4791456"/>
          </a:xfrm>
          <a:prstGeom prst="roundRect">
            <a:avLst>
              <a:gd name="adj" fmla="val 954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5" name="Image 0" descr="C:/Users/merts/OneDrive/Masaüstü/MS_LST/verification/first_mode/ozgen_m2/over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563624"/>
            <a:ext cx="6748272" cy="44988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298448"/>
            <a:ext cx="3977640" cy="3520440"/>
          </a:xfrm>
          <a:prstGeom prst="roundRect">
            <a:avLst>
              <a:gd name="adj" fmla="val 1558"/>
            </a:avLst>
          </a:prstGeom>
          <a:solidFill>
            <a:srgbClr val="F4F7F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964424" y="14447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CONDITIONS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964424" y="1755648"/>
            <a:ext cx="3520440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/ γ: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/ 1.4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BC: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adiabatic (recovery Tw/Te ≈ 1.68)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temp Te: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288 K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Prandtl Pr: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Viscosity / transport: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Özgen T-dependent μ, κ (Sutherland-type)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scale: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L* = √(νₑ x / Uₑ),  R = √Re_x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2D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Collocation / domain: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≈ 180–240 Cheb.; y_max 8–45 δ*/L*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Disturbance T BC: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isothermal T̂(0)=0 (Özgen Eq. 19)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selection: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eigenfunction-decay + y_max-stationarity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726680" y="4910328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FBF1E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964424" y="50383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012680" y="5020056"/>
            <a:ext cx="1463040" cy="292608"/>
          </a:xfrm>
          <a:prstGeom prst="rect">
            <a:avLst>
              <a:gd name="adj" fmla="val 125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64424" y="5367528"/>
            <a:ext cx="3520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full-contour match: robust branches median 8.0%; first_upper 8%(100%cov); first_lower 7%(100%cov)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57200" y="643737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ozgen_m2</a:t>
            </a:r>
            <a:pPr indent="0" marL="0">
              <a:buNone/>
            </a:pPr>
            <a:r>
              <a:rPr lang="en-US" sz="900" dirty="0">
                <a:solidFill>
                  <a:srgbClr val="7C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pyMack vs. benchmark — verification audit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Özgen &amp; Kırcalı (2008) Fig 3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75488" y="768096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3 · neutral curve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7040880" cy="4791456"/>
          </a:xfrm>
          <a:prstGeom prst="roundRect">
            <a:avLst>
              <a:gd name="adj" fmla="val 954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5" name="Image 0" descr="C:/Users/merts/OneDrive/Masaüstü/MS_LST/verification/first_mode/ozgen_m3/over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563624"/>
            <a:ext cx="6748272" cy="44988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298448"/>
            <a:ext cx="3977640" cy="3520440"/>
          </a:xfrm>
          <a:prstGeom prst="roundRect">
            <a:avLst>
              <a:gd name="adj" fmla="val 1558"/>
            </a:avLst>
          </a:prstGeom>
          <a:solidFill>
            <a:srgbClr val="F4F7F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964424" y="14447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CONDITIONS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964424" y="1755648"/>
            <a:ext cx="3520440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/ γ: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/ 1.4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BC: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adiabatic (recovery Tw/Te ≈ 2.53)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temp Te: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288 K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Prandtl Pr: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Viscosity / transport: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Özgen T-dependent μ, κ (Sutherland-type)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scale: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L* = √(νₑ x / Uₑ),  R = √Re_x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2D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Collocation / domain: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≈ 180–240 Cheb.; y_max 8–45 δ*/L*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Disturbance T BC: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isothermal T̂(0)=0 (Özgen Eq. 19)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selection: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eigenfunction-decay + y_max-stationarity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726680" y="4910328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FBF1E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964424" y="50383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012680" y="5020056"/>
            <a:ext cx="1463040" cy="292608"/>
          </a:xfrm>
          <a:prstGeom prst="rect">
            <a:avLst>
              <a:gd name="adj" fmla="val 125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64424" y="5367528"/>
            <a:ext cx="3520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full-contour match: robust branches median 6.0%; first_upper 6%(41%cov); first_lower 731%(42%cov)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57200" y="643737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ozgen_m3</a:t>
            </a:r>
            <a:pPr indent="0" marL="0">
              <a:buNone/>
            </a:pPr>
            <a:r>
              <a:rPr lang="en-US" sz="900" dirty="0">
                <a:solidFill>
                  <a:srgbClr val="7C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pyMack vs. benchmark — verification audit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Özgen &amp; Kırcalı (2008) Fig 3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75488" y="768096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4 · neutral curve (two lobes)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7040880" cy="4791456"/>
          </a:xfrm>
          <a:prstGeom prst="roundRect">
            <a:avLst>
              <a:gd name="adj" fmla="val 954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5" name="Image 0" descr="C:/Users/merts/OneDrive/Masaüstü/MS_LST/verification/first_mode/ozgen_m4/over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563624"/>
            <a:ext cx="6748272" cy="44988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298448"/>
            <a:ext cx="3977640" cy="3520440"/>
          </a:xfrm>
          <a:prstGeom prst="roundRect">
            <a:avLst>
              <a:gd name="adj" fmla="val 1558"/>
            </a:avLst>
          </a:prstGeom>
          <a:solidFill>
            <a:srgbClr val="F4F7F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964424" y="14447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CONDITIONS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964424" y="1755648"/>
            <a:ext cx="3520440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/ γ: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/ 1.4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BC: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adiabatic (recovery Tw/Te ≈ 3.72)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temp Te: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288 K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Prandtl Pr: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Viscosity / transport: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Özgen T-dependent μ, κ (Sutherland-type)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scale: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L* = √(νₑ x / Uₑ),  R = √Re_x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2D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Collocation / domain: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≈ 180–240 Cheb.; y_max 8–45 δ*/L*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Disturbance T BC: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isothermal T̂(0)=0 (Özgen Eq. 19)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selection: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eigenfunction-decay + y_max-stationarity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726680" y="4910328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EAF4EE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964424" y="50383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012680" y="5020056"/>
            <a:ext cx="1463040" cy="292608"/>
          </a:xfrm>
          <a:prstGeom prst="rect">
            <a:avLst>
              <a:gd name="adj" fmla="val 12500"/>
            </a:avLst>
          </a:prstGeom>
          <a:solidFill>
            <a:srgbClr val="2C7A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64424" y="5367528"/>
            <a:ext cx="3520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full-contour match: robust branches median 1.3%; first_lower 32%(85%cov); first_upper 2%(85%cov); second_upper 0%(86%cov); second_lower 0%(86%cov)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57200" y="643737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ozgen_m4</a:t>
            </a:r>
            <a:pPr indent="0" marL="0">
              <a:buNone/>
            </a:pPr>
            <a:r>
              <a:rPr lang="en-US" sz="900" dirty="0">
                <a:solidFill>
                  <a:srgbClr val="7C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pyMack vs. benchmark — verification audit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Özgen &amp; Kırcalı (2008) Fig 3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75488" y="768096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6 · neutral curve (two lobes)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7040880" cy="4791456"/>
          </a:xfrm>
          <a:prstGeom prst="roundRect">
            <a:avLst>
              <a:gd name="adj" fmla="val 954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5" name="Image 0" descr="C:/Users/merts/OneDrive/Masaüstü/MS_LST/verification/first_mode/ozgen_m6/over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563624"/>
            <a:ext cx="6748272" cy="44988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298448"/>
            <a:ext cx="3977640" cy="3520440"/>
          </a:xfrm>
          <a:prstGeom prst="roundRect">
            <a:avLst>
              <a:gd name="adj" fmla="val 1558"/>
            </a:avLst>
          </a:prstGeom>
          <a:solidFill>
            <a:srgbClr val="F4F7F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964424" y="14447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CONDITIONS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964424" y="1755648"/>
            <a:ext cx="3520440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/ γ: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/ 1.4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BC: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adiabatic (recovery Tw/Te ≈ 7.11)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temp Te: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288 K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Prandtl Pr: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Viscosity / transport: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Özgen T-dependent μ, κ (Sutherland-type)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scale: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L* = √(νₑ x / Uₑ),  R = √Re_x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2D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Collocation / domain: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≈ 180–240 Cheb.; y_max 8–45 δ*/L*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Disturbance T BC: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isothermal T̂(0)=0 (Özgen Eq. 19)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selection: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eigenfunction-decay + y_max-stationarity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726680" y="4910328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FBF1E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964424" y="50383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012680" y="5020056"/>
            <a:ext cx="1463040" cy="292608"/>
          </a:xfrm>
          <a:prstGeom prst="rect">
            <a:avLst>
              <a:gd name="adj" fmla="val 125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64424" y="5367528"/>
            <a:ext cx="3520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full-contour match: robust branches median 5.3%; second_upper 2%(77%cov); first_lower 50%(88%cov); second_lower 3%(70%cov); first_upper 9%(75%cov)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57200" y="643737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ozgen_m6</a:t>
            </a:r>
            <a:pPr indent="0" marL="0">
              <a:buNone/>
            </a:pPr>
            <a:r>
              <a:rPr lang="en-US" sz="900" dirty="0">
                <a:solidFill>
                  <a:srgbClr val="7C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pyMack vs. benchmark — verification audit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Özgen &amp; Kırcalı (2008) Fig 3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75488" y="768096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7 · neutral curve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7040880" cy="4791456"/>
          </a:xfrm>
          <a:prstGeom prst="roundRect">
            <a:avLst>
              <a:gd name="adj" fmla="val 954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5" name="Image 0" descr="C:/Users/merts/OneDrive/Masaüstü/MS_LST/verification/first_mode/ozgen_m7/over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563624"/>
            <a:ext cx="6748272" cy="44988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298448"/>
            <a:ext cx="3977640" cy="3520440"/>
          </a:xfrm>
          <a:prstGeom prst="roundRect">
            <a:avLst>
              <a:gd name="adj" fmla="val 1558"/>
            </a:avLst>
          </a:prstGeom>
          <a:solidFill>
            <a:srgbClr val="F4F7F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964424" y="14447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CONDITIONS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964424" y="1755648"/>
            <a:ext cx="3520440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/ γ: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/ 1.4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BC: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adiabatic (recovery Tw/Te ≈ 9.32)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temp Te: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288 K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Prandtl Pr: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Viscosity / transport: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Özgen T-dependent μ, κ (Sutherland-type)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scale: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L* = √(νₑ x / Uₑ),  R = √Re_x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2D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Collocation / domain: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≈ 180–240 Cheb.; y_max 8–45 δ*/L*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Disturbance T BC: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isothermal T̂(0)=0 (Özgen Eq. 19)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selection: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eigenfunction-decay + y_max-stationarity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726680" y="4910328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FBF1E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964424" y="50383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012680" y="5020056"/>
            <a:ext cx="1463040" cy="292608"/>
          </a:xfrm>
          <a:prstGeom prst="rect">
            <a:avLst>
              <a:gd name="adj" fmla="val 125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64424" y="5367528"/>
            <a:ext cx="3520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full-contour match: robust branches median 48.1%; second_upper 2%(77%cov); second_lower 58%(83%cov); first_upper 94%(42%cov); first_lower 20%(75%cov)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57200" y="643737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ozgen_m7</a:t>
            </a:r>
            <a:pPr indent="0" marL="0">
              <a:buNone/>
            </a:pPr>
            <a:r>
              <a:rPr lang="en-US" sz="900" dirty="0">
                <a:solidFill>
                  <a:srgbClr val="7C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pyMack vs. benchmark — verification audit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Özgen &amp; Kırcalı (2008) Fig 3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75488" y="768096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8 · neutral curve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7040880" cy="4791456"/>
          </a:xfrm>
          <a:prstGeom prst="roundRect">
            <a:avLst>
              <a:gd name="adj" fmla="val 954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5" name="Image 0" descr="C:/Users/merts/OneDrive/Masaüstü/MS_LST/verification/first_mode/ozgen_m8/over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563624"/>
            <a:ext cx="6748272" cy="44988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298448"/>
            <a:ext cx="3977640" cy="3520440"/>
          </a:xfrm>
          <a:prstGeom prst="roundRect">
            <a:avLst>
              <a:gd name="adj" fmla="val 1558"/>
            </a:avLst>
          </a:prstGeom>
          <a:solidFill>
            <a:srgbClr val="F4F7F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964424" y="14447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CONDITIONS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964424" y="1755648"/>
            <a:ext cx="3520440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/ γ: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/ 1.4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BC: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adiabatic (recovery Tw/Te ≈ 11.86)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temp Te: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288 K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Prandtl Pr: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Viscosity / transport: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Özgen T-dependent μ, κ (Sutherland-type)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scale: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L* = √(νₑ x / Uₑ),  R = √Re_x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2D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Collocation / domain: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≈ 180–240 Cheb.; y_max 8–45 δ*/L*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Disturbance T BC: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isothermal T̂(0)=0 (Özgen Eq. 19)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selection: 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eigenfunction-decay + y_max-stationarity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726680" y="4910328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FBF1E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964424" y="50383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012680" y="5020056"/>
            <a:ext cx="1463040" cy="292608"/>
          </a:xfrm>
          <a:prstGeom prst="rect">
            <a:avLst>
              <a:gd name="adj" fmla="val 125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64424" y="5367528"/>
            <a:ext cx="3520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full-contour match: robust branches median 44.7%; second_upper 4%(64%cov); second_lower 72%(64%cov); first_upper 86%(64%cov); first_lower 51%(73%cov)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57200" y="643737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ozgen_m8</a:t>
            </a:r>
            <a:pPr indent="0" marL="0">
              <a:buNone/>
            </a:pPr>
            <a:r>
              <a:rPr lang="en-US" sz="900" dirty="0">
                <a:solidFill>
                  <a:srgbClr val="7C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pyMack vs. benchmark — verification audit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48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86968" y="1463040"/>
            <a:ext cx="104241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(Mack) mode — validated.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Agrees with Mack (1984), Malik (1990), Balakumar &amp; Malik (1992), Ma &amp; Zhong (2003), Egorov (2006), an independent collaborator solver, and a cone (Sivasubramanian &amp; Fasel 2015), across Mach 4.5–10.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mode — agrees where the discrete mode is resolvable.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Özgen &amp; Kırcalı (2008) neutral curves M = 2–10: second-mode branches and the first-mode cutoff agree once a discrete-mode (eigenfunction-decay) extractor replaces the phase-speed-band classifier.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open items.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low-α first-mode onset at low Mach is continuous-spectrum-limited; at high Mach pyMack marginally over-predicts the inter-mode region. Mack Fig 10.1/10.4 low-Mach first modes await the same discrete-mode scrutiny.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pyMack LST Verification</dc:title>
  <dc:subject>PptxGenJS Presentation</dc:subject>
  <dc:creator>pyMack</dc:creator>
  <cp:lastModifiedBy>pyMack</cp:lastModifiedBy>
  <cp:revision>1</cp:revision>
  <dcterms:created xsi:type="dcterms:W3CDTF">2026-06-23T17:08:53Z</dcterms:created>
  <dcterms:modified xsi:type="dcterms:W3CDTF">2026-06-23T17:08:53Z</dcterms:modified>
</cp:coreProperties>
</file>